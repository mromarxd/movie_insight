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Raleway"/>
      <p:regular r:id="rId13"/>
      <p:bold r:id="rId14"/>
      <p:italic r:id="rId15"/>
      <p:boldItalic r:id="rId16"/>
    </p:embeddedFont>
    <p:embeddedFont>
      <p:font typeface="Lat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aleway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aleway-italic.fntdata"/><Relationship Id="rId14" Type="http://schemas.openxmlformats.org/officeDocument/2006/relationships/font" Target="fonts/Raleway-bold.fntdata"/><Relationship Id="rId17" Type="http://schemas.openxmlformats.org/officeDocument/2006/relationships/font" Target="fonts/Lato-regular.fntdata"/><Relationship Id="rId16" Type="http://schemas.openxmlformats.org/officeDocument/2006/relationships/font" Target="fonts/Raleway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italic.fntdata"/><Relationship Id="rId6" Type="http://schemas.openxmlformats.org/officeDocument/2006/relationships/slide" Target="slides/slide1.xml"/><Relationship Id="rId18" Type="http://schemas.openxmlformats.org/officeDocument/2006/relationships/font" Target="fonts/La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9b4835fca9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9b4835fca9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2d1f664a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b2d1f664a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9b4835fca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9b4835fca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b4835fca9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b4835fca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b4835fca9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b4835fca9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b2d1f664a9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b2d1f664a9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2711550" y="1394700"/>
            <a:ext cx="37209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Movie Insight</a:t>
            </a:r>
            <a:endParaRPr/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167552" y="3750825"/>
            <a:ext cx="25440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20/12/25</a:t>
            </a:r>
            <a:endParaRPr/>
          </a:p>
        </p:txBody>
      </p:sp>
      <p:pic>
        <p:nvPicPr>
          <p:cNvPr id="88" name="Google Shape;8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0875" y="2418025"/>
            <a:ext cx="2406749" cy="2406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7502" y="2282650"/>
            <a:ext cx="2677500" cy="26775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3"/>
          <p:cNvSpPr txBox="1"/>
          <p:nvPr>
            <p:ph idx="1" type="subTitle"/>
          </p:nvPr>
        </p:nvSpPr>
        <p:spPr>
          <a:xfrm>
            <a:off x="167552" y="3304650"/>
            <a:ext cx="25440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Omar Eiyana Aboghrara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Objetivo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El </a:t>
            </a:r>
            <a:r>
              <a:rPr lang="es"/>
              <a:t>propósito</a:t>
            </a:r>
            <a:r>
              <a:rPr lang="es"/>
              <a:t> es o</a:t>
            </a:r>
            <a:r>
              <a:rPr lang="es"/>
              <a:t>frecer una plataforma centralizada donde los usuarios puedan explorar, buscar y obtener detalles profundos sobre películas y series.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Ayuda a los usuarios a tomar decisiones mediante información crítica (puntuaciones, repartos, trailers) en una interfaz intuitiva y rápida.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Está</a:t>
            </a:r>
            <a:r>
              <a:rPr lang="es"/>
              <a:t> dirigida a entusiastas del cine que buscan una alternativa personalizada y moderna a las bases de datos convencionales.</a:t>
            </a:r>
            <a:endParaRPr/>
          </a:p>
        </p:txBody>
      </p:sp>
      <p:pic>
        <p:nvPicPr>
          <p:cNvPr id="97" name="Google Shape;97;p14"/>
          <p:cNvPicPr preferRelativeResize="0"/>
          <p:nvPr/>
        </p:nvPicPr>
        <p:blipFill rotWithShape="1">
          <a:blip r:embed="rId3">
            <a:alphaModFix/>
          </a:blip>
          <a:srcRect b="0" l="0" r="0" t="41677"/>
          <a:stretch/>
        </p:blipFill>
        <p:spPr>
          <a:xfrm>
            <a:off x="6495875" y="3598975"/>
            <a:ext cx="2648125" cy="1544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Descripción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Movie Insight es una aplicación web que permite a los usuarios buscar películas, consultar su información detallada (año, género, reparto, valoración…) y guardar sus favoritas. La aplicación combina datos obtenidos de una API pública (OMDb API) con una base de datos interna que almacena las preferencias y reseñas de los usuarios.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Ofrecer una API REST y una interfaz HTML5 sobre una arquitectura de microservicios.</a:t>
            </a:r>
            <a:endParaRPr/>
          </a:p>
        </p:txBody>
      </p:sp>
      <p:pic>
        <p:nvPicPr>
          <p:cNvPr id="104" name="Google Shape;10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2900" y="2882400"/>
            <a:ext cx="2261100" cy="2261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F</a:t>
            </a:r>
            <a:r>
              <a:rPr lang="es"/>
              <a:t>uncionalidades principales</a:t>
            </a:r>
            <a:endParaRPr/>
          </a:p>
        </p:txBody>
      </p:sp>
      <p:sp>
        <p:nvSpPr>
          <p:cNvPr id="110" name="Google Shape;110;p16"/>
          <p:cNvSpPr txBox="1"/>
          <p:nvPr>
            <p:ph idx="1" type="body"/>
          </p:nvPr>
        </p:nvSpPr>
        <p:spPr>
          <a:xfrm>
            <a:off x="729450" y="1919975"/>
            <a:ext cx="6983100" cy="28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-32512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Búsqueda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exacta y 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búsqueda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por lista con paginado y filtros (año, genero).</a:t>
            </a: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512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Trending 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automático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desde OMDb.</a:t>
            </a: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512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Auth JWT: registro e inicio de 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sesión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512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Favoritos con rating (1-5) y comentario.</a:t>
            </a: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512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Auditoría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relacional de acciones (add/update/delete).</a:t>
            </a: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512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Modelo: </a:t>
            </a: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5119" lvl="1" marL="9144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○"/>
            </a:pP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User{username,email,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passwordHash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,favorites[]}</a:t>
            </a: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5119" lvl="1" marL="9144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○"/>
            </a:pP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Favorite{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imdbid</a:t>
            </a: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,rating,comment,addedAt}</a:t>
            </a: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5119" lvl="1" marL="9144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○"/>
            </a:pPr>
            <a:r>
              <a:rPr lang="es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Movie cache y FavoriteLog(Postgres).</a:t>
            </a:r>
            <a:endParaRPr/>
          </a:p>
        </p:txBody>
      </p:sp>
      <p:pic>
        <p:nvPicPr>
          <p:cNvPr id="111" name="Google Shape;11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2875" y="3134475"/>
            <a:ext cx="3013524" cy="2009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7"/>
          <p:cNvSpPr txBox="1"/>
          <p:nvPr>
            <p:ph type="title"/>
          </p:nvPr>
        </p:nvSpPr>
        <p:spPr>
          <a:xfrm>
            <a:off x="729450" y="11650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Arquitectura y tecnologías</a:t>
            </a:r>
            <a:endParaRPr/>
          </a:p>
        </p:txBody>
      </p:sp>
      <p:sp>
        <p:nvSpPr>
          <p:cNvPr id="117" name="Google Shape;117;p17"/>
          <p:cNvSpPr txBox="1"/>
          <p:nvPr>
            <p:ph idx="1" type="body"/>
          </p:nvPr>
        </p:nvSpPr>
        <p:spPr>
          <a:xfrm>
            <a:off x="727650" y="1700200"/>
            <a:ext cx="7688700" cy="260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La aplicación está basada en una arquitectura de microservicios conectados mediante un API Gateway. Consta de dos microservicios principales: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Gateway (Node) sirve UI y proxy a APIs.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Movie-service (Python/Flask) consulta OMDb y cachea en Mongo.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User-service (Node) maneja auth y favoritos en Mongo; logs en Postgres.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API Gateway central y OpenAPI 3.0.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Aplicación</a:t>
            </a:r>
            <a:r>
              <a:rPr lang="es"/>
              <a:t> MPA (index.html + favorites.html), HTML5 + JS.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Docker y Docker-compose para despliegue local.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60350" y="2652200"/>
            <a:ext cx="2376026" cy="2376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Lecciones aprendidas y aspectos destacados</a:t>
            </a:r>
            <a:endParaRPr/>
          </a:p>
        </p:txBody>
      </p:sp>
      <p:sp>
        <p:nvSpPr>
          <p:cNvPr id="124" name="Google Shape;124;p18"/>
          <p:cNvSpPr txBox="1"/>
          <p:nvPr/>
        </p:nvSpPr>
        <p:spPr>
          <a:xfrm>
            <a:off x="788075" y="1933125"/>
            <a:ext cx="5981400" cy="253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Diseño</a:t>
            </a: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 de microservicios y </a:t>
            </a: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comunicación</a:t>
            </a: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vía</a:t>
            </a: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 gateway.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spcBef>
                <a:spcPts val="640"/>
              </a:spcBef>
              <a:spcAft>
                <a:spcPts val="0"/>
              </a:spcAft>
              <a:buSzPts val="1300"/>
              <a:buChar char="●"/>
            </a:pP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Cache con TTL para reducir llamadas a OMDb.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spcBef>
                <a:spcPts val="640"/>
              </a:spcBef>
              <a:spcAft>
                <a:spcPts val="0"/>
              </a:spcAft>
              <a:buSzPts val="1300"/>
              <a:buChar char="●"/>
            </a:pP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JWT para proteger endpoints y control de permisos.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spcBef>
                <a:spcPts val="640"/>
              </a:spcBef>
              <a:spcAft>
                <a:spcPts val="0"/>
              </a:spcAft>
              <a:buSzPts val="1300"/>
              <a:buChar char="●"/>
            </a:pP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Uso combinado de BBDD no relacional (</a:t>
            </a: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Mongodb</a:t>
            </a: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) y relacional (Postgres).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spcBef>
                <a:spcPts val="640"/>
              </a:spcBef>
              <a:spcAft>
                <a:spcPts val="0"/>
              </a:spcAft>
              <a:buSzPts val="1300"/>
              <a:buChar char="●"/>
            </a:pP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UX mejorada con toasts, loader y rating visual.</a:t>
            </a:r>
            <a:endParaRPr sz="13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25" name="Google Shape;12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30025" y="2987500"/>
            <a:ext cx="1745325" cy="174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9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Demo y Conclusiones</a:t>
            </a:r>
            <a:endParaRPr/>
          </a:p>
        </p:txBody>
      </p:sp>
      <p:sp>
        <p:nvSpPr>
          <p:cNvPr id="131" name="Google Shape;131;p19"/>
          <p:cNvSpPr txBox="1"/>
          <p:nvPr/>
        </p:nvSpPr>
        <p:spPr>
          <a:xfrm>
            <a:off x="1482750" y="3768950"/>
            <a:ext cx="5981400" cy="10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El proyecto demuestra la capacidad de integrar servicios de terceros en una aplicación funcional y escalable.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300">
                <a:latin typeface="Calibri"/>
                <a:ea typeface="Calibri"/>
                <a:cs typeface="Calibri"/>
                <a:sym typeface="Calibri"/>
              </a:rPr>
              <a:t>He logrado un producto mínimo viable (MVP) sólido que puede crecer con funciones sociales (chats, foros o recomendaciones por IA).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